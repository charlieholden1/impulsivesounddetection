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Training Class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Gunshot (pos)</c:v>
                </c:pt>
                <c:pt idx="1">
                  <c:v>Non-Gunshot (neg)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5618</c:v>
                </c:pt>
                <c:pt idx="1">
                  <c:v>10344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Best-Threshold Metrics by Feature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FFT
(thr=0.65)</c:v>
                  </c:pt>
                  <c:pt idx="1">
                    <c:v>LogMel
(thr=0.70)</c:v>
                  </c:pt>
                  <c:pt idx="2">
                    <c:v>MFCC
(thr=0.55)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99.4</c:v>
                </c:pt>
                <c:pt idx="1">
                  <c:v>97</c:v>
                </c:pt>
                <c:pt idx="2">
                  <c:v>95.4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FFT
(thr=0.65)</c:v>
                  </c:pt>
                  <c:pt idx="1">
                    <c:v>LogMel
(thr=0.70)</c:v>
                  </c:pt>
                  <c:pt idx="2">
                    <c:v>MFCC
(thr=0.55)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98.3</c:v>
                </c:pt>
                <c:pt idx="1">
                  <c:v>99.4</c:v>
                </c:pt>
                <c:pt idx="2">
                  <c:v>96.2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FFT
(thr=0.65)</c:v>
                  </c:pt>
                  <c:pt idx="1">
                    <c:v>LogMel
(thr=0.70)</c:v>
                  </c:pt>
                  <c:pt idx="2">
                    <c:v>MFCC
(thr=0.55)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98.8</c:v>
                </c:pt>
                <c:pt idx="1">
                  <c:v>98.2</c:v>
                </c:pt>
                <c:pt idx="2">
                  <c:v>95.8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FFT Model: Metrics vs. Decision Threshold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(%)</c:v>
                </c:pt>
              </c:strCache>
            </c:strRef>
          </c:tx>
          <c:spPr>
            <a:solidFill>
              <a:srgbClr val="0891B2"/>
            </a:solidFill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0.30</c:v>
                  </c:pt>
                  <c:pt idx="1">
                    <c:v>0.35</c:v>
                  </c:pt>
                  <c:pt idx="2">
                    <c:v>0.40</c:v>
                  </c:pt>
                  <c:pt idx="3">
                    <c:v>0.45</c:v>
                  </c:pt>
                  <c:pt idx="4">
                    <c:v>0.50</c:v>
                  </c:pt>
                  <c:pt idx="5">
                    <c:v>0.55</c:v>
                  </c:pt>
                  <c:pt idx="6">
                    <c:v>0.60</c:v>
                  </c:pt>
                  <c:pt idx="7">
                    <c:v>0.65</c:v>
                  </c:pt>
                  <c:pt idx="8">
                    <c:v>0.70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96.2</c:v>
                </c:pt>
                <c:pt idx="1">
                  <c:v>96.9</c:v>
                </c:pt>
                <c:pt idx="2">
                  <c:v>97.4</c:v>
                </c:pt>
                <c:pt idx="3">
                  <c:v>97.8</c:v>
                </c:pt>
                <c:pt idx="4">
                  <c:v>98</c:v>
                </c:pt>
                <c:pt idx="5">
                  <c:v>98.4</c:v>
                </c:pt>
                <c:pt idx="6">
                  <c:v>98.7</c:v>
                </c:pt>
                <c:pt idx="7">
                  <c:v>99.4</c:v>
                </c:pt>
                <c:pt idx="8">
                  <c:v>99.4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0.30</c:v>
                  </c:pt>
                  <c:pt idx="1">
                    <c:v>0.35</c:v>
                  </c:pt>
                  <c:pt idx="2">
                    <c:v>0.40</c:v>
                  </c:pt>
                  <c:pt idx="3">
                    <c:v>0.45</c:v>
                  </c:pt>
                  <c:pt idx="4">
                    <c:v>0.50</c:v>
                  </c:pt>
                  <c:pt idx="5">
                    <c:v>0.55</c:v>
                  </c:pt>
                  <c:pt idx="6">
                    <c:v>0.60</c:v>
                  </c:pt>
                  <c:pt idx="7">
                    <c:v>0.65</c:v>
                  </c:pt>
                  <c:pt idx="8">
                    <c:v>0.70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99.5</c:v>
                </c:pt>
                <c:pt idx="1">
                  <c:v>99.5</c:v>
                </c:pt>
                <c:pt idx="2">
                  <c:v>99.4</c:v>
                </c:pt>
                <c:pt idx="3">
                  <c:v>99.3</c:v>
                </c:pt>
                <c:pt idx="4">
                  <c:v>98.9</c:v>
                </c:pt>
                <c:pt idx="5">
                  <c:v>98.7</c:v>
                </c:pt>
                <c:pt idx="6">
                  <c:v>98.5</c:v>
                </c:pt>
                <c:pt idx="7">
                  <c:v>98.3</c:v>
                </c:pt>
                <c:pt idx="8">
                  <c:v>98.3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0.30</c:v>
                  </c:pt>
                  <c:pt idx="1">
                    <c:v>0.35</c:v>
                  </c:pt>
                  <c:pt idx="2">
                    <c:v>0.40</c:v>
                  </c:pt>
                  <c:pt idx="3">
                    <c:v>0.45</c:v>
                  </c:pt>
                  <c:pt idx="4">
                    <c:v>0.50</c:v>
                  </c:pt>
                  <c:pt idx="5">
                    <c:v>0.55</c:v>
                  </c:pt>
                  <c:pt idx="6">
                    <c:v>0.60</c:v>
                  </c:pt>
                  <c:pt idx="7">
                    <c:v>0.65</c:v>
                  </c:pt>
                  <c:pt idx="8">
                    <c:v>0.70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97.8</c:v>
                </c:pt>
                <c:pt idx="1">
                  <c:v>98.2</c:v>
                </c:pt>
                <c:pt idx="2">
                  <c:v>98.4</c:v>
                </c:pt>
                <c:pt idx="3">
                  <c:v>98.6</c:v>
                </c:pt>
                <c:pt idx="4">
                  <c:v>98.4</c:v>
                </c:pt>
                <c:pt idx="5">
                  <c:v>98.5</c:v>
                </c:pt>
                <c:pt idx="6">
                  <c:v>98.6</c:v>
                </c:pt>
                <c:pt idx="7">
                  <c:v>98.8</c:v>
                </c:pt>
                <c:pt idx="8">
                  <c:v>98.8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Decision 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4434840"/>
            <a:ext cx="8851392" cy="7086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38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REPORT  -  APRIL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Pipeline Design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Results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34015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 Sound Detection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53542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Transfer Learning  -  Two-Stage Pipeline  -  YAMNet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impulsive acoustic events - gunshots and glass breaks - in real-time audio streams and pre-recorded files with minimal latency.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9748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applications require fast, reliable detection. False negatives (missed gunshots) carry much higher cost than false positives.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97280"/>
            <a:ext cx="269748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 sounds share acoustic profiles with doors, fireworks, and balloons - making classification hard without deep contextual features.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 Gunshot  -  Glass Break          Negative classes: Baby Cry, Urban Ambience, Environmental Sounds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" cy="1078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24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Gunshot Spectrogram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15,962 images  -  5 public audio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46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FFT, LogMel &amp; MFCC spectrograms (224x224 RGB)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50292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91440" cy="1078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59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annotated audio 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 labels  -  Validation &amp; test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50292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91440" cy="10789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935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ReaLISED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9044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MB  -  Real-world gunshot recordings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15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evaluation dataset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532120" y="1005840"/>
          <a:ext cx="3337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274320" y="4645152"/>
            <a:ext cx="27432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645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Spectrograms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54680" y="4645152"/>
            <a:ext cx="27432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3154680" y="4645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Spectrograms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35040" y="4645152"/>
            <a:ext cx="27432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4645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TWO-STAGE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234440"/>
            <a:ext cx="1719072" cy="150876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31673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" y="196596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WAV file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984248"/>
            <a:ext cx="201168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1234440"/>
            <a:ext cx="1719072" cy="15087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131673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Monitor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29968" y="196596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energy trigger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1984248"/>
            <a:ext cx="201168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234440"/>
            <a:ext cx="1719072" cy="15087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07408" y="131673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96596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&gt; 3x 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 dead-time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984248"/>
            <a:ext cx="201168" cy="640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1234440"/>
            <a:ext cx="1719072" cy="15087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131673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196596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or CNN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labeling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017520"/>
            <a:ext cx="1463040" cy="62179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0175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No spike 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Discard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017520"/>
            <a:ext cx="2377440" cy="62179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175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Alert: Suspicious 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JSON + Timestamp + Severity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840480"/>
            <a:ext cx="285292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840480"/>
            <a:ext cx="285292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9776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Detection (Stage 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297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 -  512-sample RMS frames  -  10s rolling baseline  -  3x trigger multiplier  -  0.5s dead-time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72968" y="3840480"/>
            <a:ext cx="285292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72968" y="3840480"/>
            <a:ext cx="285292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39776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YAMNet (Stage 2 - default)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4297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521-class Google model (25MB)  -  Top-5 label match  -  Gunshot / Explosion / Glass  -  Severity: LOW / MED / HIGH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63056" y="3840480"/>
            <a:ext cx="2852928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3840480"/>
            <a:ext cx="285292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300216" y="39776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(Stage 2 - alternative)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0216" y="429768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 -  FFT spectrogram  -  Threshold: 0.65  -  TFLite export (16.7MB)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TWO CLASSIFIER APPROACHES COMPARED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416052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YAMNet  -  Current Production Classifier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87552"/>
            <a:ext cx="41605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  -  In Development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160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6304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~0.85 Balanced Accuracy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real-world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AudioSet - 2 M real-world YouTube clips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397764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25880" y="2734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 audio classes incl. Gunshot, Explosion, Glass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154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label check against impulsive sound list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397764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575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25880" y="35753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to real-world audio immediately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3995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labels - cannot be fine-tuned per scenario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389888"/>
            <a:ext cx="41605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46304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 F1 (synthetic test set)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0" y="1920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to curated training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267712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23134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+ 2-stage transfer learning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688336"/>
            <a:ext cx="397764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273405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15,962 synthetic spectrograms (FFT)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08960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910328" y="31546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61888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 F1 on held-out spectrogram 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529584"/>
            <a:ext cx="397764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4910328" y="357530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61888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customisable, TFLite export, domain-specific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950208"/>
            <a:ext cx="397764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910328" y="39959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61888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 - overfit to synthetic data patterns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498848"/>
            <a:ext cx="8686800" cy="548640"/>
          </a:xfrm>
          <a:prstGeom prst="rect">
            <a:avLst/>
          </a:prstGeom>
          <a:solidFill>
            <a:srgbClr val="142232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526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 Gap - Improvement Plan: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97480" y="4526280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Fine-tune CNN on real audio     (2) Use YAMNet embeddings as CNN input features     (3) Ensemble both classifiers for higher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DATA FLOW: FROM INPUT TO DETECTION EVENT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follows the same 7-step pipeline, whether processing a live microphone stream or a pre-recorded WAV file.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481328"/>
            <a:ext cx="2011680" cy="1444752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81328"/>
            <a:ext cx="329184" cy="1444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481328"/>
            <a:ext cx="329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" y="154533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Audio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97510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file or live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sample rate)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58568" y="2167128"/>
            <a:ext cx="16459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441448" y="1481328"/>
            <a:ext cx="2011680" cy="144475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481328"/>
            <a:ext cx="329184" cy="1444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441448" y="1481328"/>
            <a:ext cx="329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43784" y="154533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43784" y="197510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-&gt; 16 kHz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Pre-emphasis a=0.97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mono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2167128"/>
            <a:ext cx="16459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54296" y="1481328"/>
            <a:ext cx="2011680" cy="144475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1481328"/>
            <a:ext cx="329184" cy="1444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54296" y="1481328"/>
            <a:ext cx="329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56632" y="154533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56632" y="197510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 s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(15,600 samples)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84264" y="2167128"/>
            <a:ext cx="164592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7144" y="1481328"/>
            <a:ext cx="2011680" cy="144475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1481328"/>
            <a:ext cx="329184" cy="14447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67144" y="1481328"/>
            <a:ext cx="329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154533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 Trigger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197510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512-sample RMS frames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 rolling baseline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&gt; 3x?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64208" y="3017520"/>
            <a:ext cx="6126480" cy="25603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1664208" y="30175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energy spike detected -&gt; generate spectrogram and run classifier: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364992"/>
            <a:ext cx="3090672" cy="153619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52044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Spike Detected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391363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discarded. Return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 0.5s dead-time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re-triggering.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56432" y="3364992"/>
            <a:ext cx="1719072" cy="153619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56432" y="3364992"/>
            <a:ext cx="310896" cy="15361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456432" y="3364992"/>
            <a:ext cx="310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22192" y="34290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Spectrogram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22192" y="38587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Fourier Transform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224x224 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93792" y="4114800"/>
            <a:ext cx="128016" cy="548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340096" y="3364992"/>
            <a:ext cx="1719072" cy="1536192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0096" y="3364992"/>
            <a:ext cx="310896" cy="15361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340096" y="3364992"/>
            <a:ext cx="310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705856" y="34290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Inference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05856" y="38587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-&gt; sigmoid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0.65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77456" y="4114800"/>
            <a:ext cx="128016" cy="5486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223760" y="3364992"/>
            <a:ext cx="1719072" cy="153619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23760" y="3364992"/>
            <a:ext cx="310896" cy="15361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7223760" y="3364992"/>
            <a:ext cx="310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589520" y="34290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Output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89520" y="3858768"/>
            <a:ext cx="1261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timestamp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severity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database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EfficientNetB0 CNN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5486400" cy="621792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07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6245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x 224 x 3  FFT Spectrogram 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645920"/>
            <a:ext cx="64008" cy="1463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92224"/>
            <a:ext cx="5486400" cy="621792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EfficientNetB0 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pre-trained  -  ~5.3 M parameters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2414016"/>
            <a:ext cx="64008" cy="1463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560320"/>
            <a:ext cx="5486400" cy="62179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596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GlobalAveragePooling2D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8986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reduction -&gt; 1D feature vector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3182112"/>
            <a:ext cx="64008" cy="1463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328416"/>
            <a:ext cx="5486400" cy="621792"/>
          </a:xfrm>
          <a:prstGeom prst="rect">
            <a:avLst/>
          </a:prstGeom>
          <a:solidFill>
            <a:srgbClr val="044E7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Dense(128, ReLU) + Dropout(0.4)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6667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classification head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950208"/>
            <a:ext cx="64008" cy="1463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4096512"/>
            <a:ext cx="5486400" cy="621792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133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- Raw Logits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4348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Gunshot vs. Non-Gunshot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24128"/>
            <a:ext cx="2834640" cy="3950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024128"/>
            <a:ext cx="283464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636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8470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base, train head (15 ep, LR 1e-3)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157984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1945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4048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top 20 layers (20 ep, LR 1e-5)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715768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7523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9626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BinaryCrossentropy (from_logits=True)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273552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3101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5204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val_auprc (area under PR curve)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831336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3867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40782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NON-GUN: 0.77,  GUN: 1.42 }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389120"/>
            <a:ext cx="260604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44256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Policy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46360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(factor 0.5, pat 2)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RATIONALE: WHY DID WE BUILD IT THIS WAY?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24128"/>
            <a:ext cx="73152" cy="12618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0881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two-stage pipeline?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40817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CNN on every audio frame at 16 kHz would be computationally prohibitive for real-time use. RMS energy is essentially free - it acts as a fast gate so CNN inference only fires when there is actually a transient event worth classifying. This is the same design pattern used in always-on wake-word engines.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24128"/>
            <a:ext cx="73152" cy="1261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0881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EfficientNetB0?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408176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offers the best accuracy-per-parameter tradeoff in the EfficientNet family - 5.3 M parameters vs ResNet50's 25 M. Since spectrograms are 2D images, ImageNet edge and texture detectors transfer well to frequency-time patterns, enabling effective training on roughly 15,000 samples.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14016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14016"/>
            <a:ext cx="73152" cy="12618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4780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FFT over Log-Mel spectrograms?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279806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 compresses high frequencies to mimic human hearing - ideal for speech, not for gunshots. Gunshots are broadband impulse events and FFT preserves full linear frequency resolution, capturing the sharp high-frequency energy spike more faithfully. Our sweep confirmed this: FFT achieved 98.8% F1 vs 98.2% for Log-Mel.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414016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14016"/>
            <a:ext cx="73152" cy="12618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4780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val_auprc for early stopping?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2798064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on imbalanced datasets. AUC-ROC does not capture the precision-recall tradeoff as clearly when the positive class is critical. AUPRC measures performance on the positive class across all thresholds simultaneously - exactly right when missing a gunshot is worse than a false alarm.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803904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803904"/>
            <a:ext cx="73152" cy="1261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8679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 weighting instead of oversampling?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" y="418795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was 35% positive / 65% negative - moderate imbalance, not extreme. Class weighting adjusts the loss function directly without changing the data distribution the model sees, avoiding the overfitting risk that comes from duplicating minority-class samples.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803904"/>
            <a:ext cx="429768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803904"/>
            <a:ext cx="73152" cy="126187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8679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YAMNet as an alternative classifier?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4187952"/>
            <a:ext cx="4005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is Google's model trained on 2 million real-world YouTube clips across 521 classes. It already has explicit Gunshot and Glass categories. It serves as a validated baseline, a production fallback, and a cross-check - if both YAMNet and our CNN agree, confidence in the detection is higher.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 &amp; KEY FIXES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A - Head Training  -  15 epochs  -  LR 1e-3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EfficientNetB0 base frozen (no weight updates)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Train Dense head only with class-weighted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Early stopping on val_auprc (patience 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971800"/>
            <a:ext cx="41148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B - Fine-Tuning  -  20 epochs  -  LR 1e-5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Top 20 EfficientNetB0 layers unfrozen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ReduceLROnPlateau: halves LR on plateau (factor 0.5)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Checkpoint saved at best val_auprc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251960" cy="365760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51560"/>
            <a:ext cx="4251960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0881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Critical Training Fixes Applied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591056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93208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Mismatch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93208" y="1865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manual [0,1] norm - preprocess_input() handles 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93208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Loss/Activation Mismatch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93208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logit output + BinaryCrossentropy(from_logits=True)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889504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3208" y="2889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Instability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3163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Multi-threshold monitoring; switched monitor to val_auprc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38728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93208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 LR Drop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93208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instant drop -&gt; ReduceLROnPlateau (factor 0.5)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187952"/>
            <a:ext cx="292608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93208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 Early Stop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93208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val_recall -&gt; val_auprc (threshold-independent metric)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4663440"/>
            <a:ext cx="425196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46634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recall collapse: 91.8% -&gt; 10.7% during fine-tuning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TUNING: FEATURE TYPE SWEEP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three separate EfficientNetB0 models - one per spectrogram feature type - sweeping decision thresholds for each to identify the optimal feature and operating point.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834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83464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737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Tuned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260604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157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vs. Log-Mel vs. MFCC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representation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52928"/>
            <a:ext cx="260604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1272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 0.30 -&gt; 0.70 in 0.05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(9 points per model)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260604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Metric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858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balanced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 + specificity)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315968"/>
            <a:ext cx="2606040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4352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590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Stage A + B schedule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three models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46120" y="1600200"/>
          <a:ext cx="3749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7132320" y="1600200"/>
            <a:ext cx="1737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32320" y="1600200"/>
            <a:ext cx="173736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722376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32320" y="21031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178040" y="28346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5280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78040" y="32369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955280" y="3236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78040" y="363931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55280" y="36393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40416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955280" y="40416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178040" y="44439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955280" y="44439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selected as primary feature for final model  -  LogMel used for VOICe external evaluation  -  All models exported to .keras + TFLite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5740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143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1664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(FFT, synthetic test set)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04872" y="100584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04872" y="1005840"/>
            <a:ext cx="20574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404872" y="1143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50592" y="1664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(FFT, synthetic test set)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005840"/>
            <a:ext cx="20574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143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72584" y="1664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(FFT, synthetic test set)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48856" y="100584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48856" y="1005840"/>
            <a:ext cx="20574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143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94576" y="1664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(FFT, synthetic test set)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182880" y="219456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760720" y="2194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Comparison at Best Threshold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606040"/>
          <a:ext cx="3154680" cy="1645920"/>
        </p:xfrm>
        <a:graphic>
          <a:graphicData uri="http://schemas.openxmlformats.org/drawingml/2006/table">
            <a:tbl>
              <a:tblPr/>
              <a:tblGrid>
                <a:gridCol w="960120"/>
                <a:gridCol w="777240"/>
                <a:gridCol w="777240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LogMel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760720" y="43159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Selected as final model  -  All models: EfficientNetB0 + Stage A/B training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760720" y="4663440"/>
            <a:ext cx="3154680" cy="3474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1"/>
          <p:cNvSpPr/>
          <p:nvPr/>
        </p:nvSpPr>
        <p:spPr>
          <a:xfrm>
            <a:off x="5760720" y="4663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on held-out spectrogram test set (n = 2,395)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749808"/>
          </a:xfrm>
          <a:prstGeom prst="rect">
            <a:avLst/>
          </a:prstGeom>
          <a:solidFill>
            <a:srgbClr val="1422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Synthetic-to-Real Domain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curated spectrograms may behave differently in varied acoustic environments. Expanding real-world training data is the primary next objective.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4114800" cy="749808"/>
          </a:xfrm>
          <a:prstGeom prst="rect">
            <a:avLst/>
          </a:prstGeom>
          <a:solidFill>
            <a:srgbClr val="1422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9424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Precision-Recall Tradeoff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systems favour high recall. Threshold tuning lets us prioritise catching true events at the cost of some false positives - an acceptable tradeoff for this 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27248"/>
            <a:ext cx="4114800" cy="749808"/>
          </a:xfrm>
          <a:prstGeom prst="rect">
            <a:avLst/>
          </a:prstGeom>
          <a:solidFill>
            <a:srgbClr val="1422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27248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Environment Variance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Gunshot acoustics vary significantly by weapon type, room size, and distance. A broader training corpus covering more environments will improve generalisation.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4114800" cy="749808"/>
          </a:xfrm>
          <a:prstGeom prst="rect">
            <a:avLst/>
          </a:prstGeom>
          <a:solidFill>
            <a:srgbClr val="14223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05072"/>
            <a:ext cx="73152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vs.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52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analysis windows improve classification accuracy but increase detection latency. The 0.975s window balances these two competing requirements.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4160520" cy="749808"/>
          </a:xfrm>
          <a:prstGeom prst="rect">
            <a:avLst/>
          </a:prstGeom>
          <a:solidFill>
            <a:srgbClr val="0D2A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14264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Real-World Training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7190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annotate real gunshot recordings across varied acoustic environments.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249424"/>
            <a:ext cx="4160520" cy="749808"/>
          </a:xfrm>
          <a:prstGeom prst="rect">
            <a:avLst/>
          </a:prstGeom>
          <a:solidFill>
            <a:srgbClr val="0D2A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2313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23042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Adaptation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596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domain-adversarial training or fine-tune the CNN on real-world audio samples.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4160520" cy="749808"/>
          </a:xfrm>
          <a:prstGeom prst="rect">
            <a:avLst/>
          </a:prstGeom>
          <a:solidFill>
            <a:srgbClr val="0D2A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319125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182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Calibration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474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 for calibrated, reliable output probabilities.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05072"/>
            <a:ext cx="4160520" cy="749808"/>
          </a:xfrm>
          <a:prstGeom prst="rect">
            <a:avLst/>
          </a:prstGeom>
          <a:solidFill>
            <a:srgbClr val="0D2A1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4069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94960" y="4059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YAMNet + CNN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435254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C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Stage 2 classifiers for more robust, feature-agnostic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0D22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two-stage detection system: RMS energy trigger (Stage 1) + CNN / YAMNet classifier (Stage 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55064"/>
            <a:ext cx="8412480" cy="548640"/>
          </a:xfrm>
          <a:prstGeom prst="rect">
            <a:avLst/>
          </a:prstGeom>
          <a:solidFill>
            <a:srgbClr val="0D22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2821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2821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EfficientNetB0 on 15,962 spectrogram images; swept FFT / LogMel / MFCC via feature hyperparameter 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548640"/>
          </a:xfrm>
          <a:prstGeom prst="rect">
            <a:avLst/>
          </a:prstGeom>
          <a:solidFill>
            <a:srgbClr val="0D22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(FFT, thr=0.65): 98.8% F1 - 99.4% precision, 98.3% recall, 99.0% balanced accuracy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8412480" cy="548640"/>
          </a:xfrm>
          <a:prstGeom prst="rect">
            <a:avLst/>
          </a:prstGeom>
          <a:solidFill>
            <a:srgbClr val="0D22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666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2666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fixed 5 critical training bugs - prevented recall collapse from 91.8% to 10.7% during fine-tuning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8412480" cy="548640"/>
          </a:xfrm>
          <a:prstGeom prst="rect">
            <a:avLst/>
          </a:prstGeom>
          <a:solidFill>
            <a:srgbClr val="231A0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7588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[&gt;&gt;]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7588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expand training to real-world acoustic environments to further improve generalisation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0D231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2511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[&gt;&gt;]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32511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phase: domain adaptation, probability calibration, and ensemble YAMNet + CNN inference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ML Pipeline Design &amp; Results  -  Impulsive Sound Detection  -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ML Pipeline Design &amp; Results</dc:title>
  <dc:subject>PptxGenJS Presentation</dc:subject>
  <dc:creator>Charlie Holden</dc:creator>
  <cp:lastModifiedBy>Charlie Holden</cp:lastModifiedBy>
  <cp:revision>1</cp:revision>
  <dcterms:created xsi:type="dcterms:W3CDTF">2026-04-30T18:07:09Z</dcterms:created>
  <dcterms:modified xsi:type="dcterms:W3CDTF">2026-04-30T18:07:09Z</dcterms:modified>
</cp:coreProperties>
</file>